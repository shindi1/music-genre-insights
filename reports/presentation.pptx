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031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0"/>
            <a:ext cx="228600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2952" y="5486400"/>
            <a:ext cx="228600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8686800" cy="3017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01168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0F6FC"/>
                </a:solidFill>
                <a:latin typeface="Trebuchet MS"/>
              </a:rPr>
              <a:t>Music Genre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B949E"/>
                </a:solidFill>
                <a:latin typeface="Calibri"/>
              </a:rPr>
              <a:t>Can audio features and song lyrics predict music genre?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  <a:latin typeface="Calibri"/>
              </a:rPr>
              <a:t>Sam Shindich  ·  Cade Miller  ·  Larry Li   |   CSCI 467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Why Genre Classification?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Motivation &amp; research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Trebuchet MS"/>
              </a:rPr>
              <a:t>Real-world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Streaming platforms (Spotify, Apple Music) rely on genre tags for recommendations and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87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Trebuchet MS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Manual genre labelling is expensive and subjective — artists often span multiple genres.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136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Trebuchet MS"/>
              </a:rPr>
              <a:t>Research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43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How accurately can we predict genre from audio features alone? From lyrics? Which modality wins?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59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66359"/>
            <a:ext cx="50292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3951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F6FC"/>
                </a:solidFill>
                <a:latin typeface="Trebuchet MS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6927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Train and compare Logistic Regression, KNN, and XGBoost across both modalities on 6 balanced genres.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Two independent 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669280" cy="5486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02920" cy="5486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Trebuchet MS"/>
              </a:rPr>
              <a:t>🎵  Spotify SQLite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554480"/>
            <a:ext cx="12188952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Trebuchet MS"/>
              </a:rPr>
              <a:t>  Source  </a:t>
            </a:r>
            <a:r>
              <a:rPr sz="1300">
                <a:solidFill>
                  <a:srgbClr val="F0F6FC"/>
                </a:solidFill>
                <a:latin typeface="Calibri"/>
              </a:rPr>
              <a:t>Normalized SQLite DB — tracks, audio_features, artists, genres</a:t>
            </a:r>
          </a:p>
          <a:p>
            <a:r>
              <a:t/>
            </a:r>
          </a:p>
          <a:p>
            <a:r>
              <a:rPr sz="1400" b="1">
                <a:solidFill>
                  <a:srgbClr val="06B6D4"/>
                </a:solidFill>
                <a:latin typeface="Trebuchet MS"/>
              </a:rPr>
              <a:t>  Size  </a:t>
            </a:r>
            <a:r>
              <a:rPr sz="1300">
                <a:solidFill>
                  <a:srgbClr val="F0F6FC"/>
                </a:solidFill>
                <a:latin typeface="Calibri"/>
              </a:rPr>
              <a:t>~300K tracks after joining &amp; filtering (popularity ≥ 10)</a:t>
            </a:r>
          </a:p>
          <a:p>
            <a:r>
              <a:t/>
            </a:r>
          </a:p>
          <a:p>
            <a:r>
              <a:rPr sz="1400" b="1">
                <a:solidFill>
                  <a:srgbClr val="06B6D4"/>
                </a:solidFill>
                <a:latin typeface="Trebuchet MS"/>
              </a:rPr>
              <a:t>  Features  </a:t>
            </a:r>
            <a:r>
              <a:rPr sz="1300">
                <a:solidFill>
                  <a:srgbClr val="F0F6FC"/>
                </a:solidFill>
                <a:latin typeface="Calibri"/>
              </a:rPr>
              <a:t>9 audio features: danceability, energy, loudness, speechiness,
acousticness, instrumentalness, liveness, valence, tempo</a:t>
            </a:r>
          </a:p>
          <a:p>
            <a:r>
              <a:t/>
            </a:r>
          </a:p>
          <a:p>
            <a:r>
              <a:rPr sz="1400" b="1">
                <a:solidFill>
                  <a:srgbClr val="06B6D4"/>
                </a:solidFill>
                <a:latin typeface="Trebuchet MS"/>
              </a:rPr>
              <a:t>  Genre  </a:t>
            </a:r>
            <a:r>
              <a:rPr sz="1300">
                <a:solidFill>
                  <a:srgbClr val="F0F6FC"/>
                </a:solidFill>
                <a:latin typeface="Calibri"/>
              </a:rPr>
              <a:t>Resolved from micro-genre tags via substring matching → 6 labels</a:t>
            </a:r>
          </a:p>
          <a:p>
            <a: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51560"/>
            <a:ext cx="5669280" cy="5486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51560"/>
            <a:ext cx="502920" cy="5486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C4899"/>
                </a:solidFill>
                <a:latin typeface="Trebuchet MS"/>
              </a:rPr>
              <a:t>📝  Genius Lyrics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554480"/>
            <a:ext cx="12188952" cy="228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C4899"/>
                </a:solidFill>
                <a:latin typeface="Trebuchet MS"/>
              </a:rPr>
              <a:t>  Source  </a:t>
            </a:r>
            <a:r>
              <a:rPr sz="1300">
                <a:solidFill>
                  <a:srgbClr val="F0F6FC"/>
                </a:solidFill>
                <a:latin typeface="Calibri"/>
              </a:rPr>
              <a:t>Kaggle — Genius Song Lyrics  (~5M songs, ~9 GB CSV)</a:t>
            </a:r>
          </a:p>
          <a:p>
            <a:r>
              <a:t/>
            </a:r>
          </a:p>
          <a:p>
            <a:r>
              <a:rPr sz="1400" b="1">
                <a:solidFill>
                  <a:srgbClr val="EC4899"/>
                </a:solidFill>
                <a:latin typeface="Trebuchet MS"/>
              </a:rPr>
              <a:t>  Filtered to  </a:t>
            </a:r>
            <a:r>
              <a:rPr sz="1300">
                <a:solidFill>
                  <a:srgbClr val="F0F6FC"/>
                </a:solidFill>
                <a:latin typeface="Calibri"/>
              </a:rPr>
              <a:t>English-only, music tags (no 'misc'), 50–2,000 words</a:t>
            </a:r>
          </a:p>
          <a:p>
            <a:r>
              <a:t/>
            </a:r>
          </a:p>
          <a:p>
            <a:r>
              <a:rPr sz="1400" b="1">
                <a:solidFill>
                  <a:srgbClr val="EC4899"/>
                </a:solidFill>
                <a:latin typeface="Trebuchet MS"/>
              </a:rPr>
              <a:t>  Sampled  </a:t>
            </a:r>
            <a:r>
              <a:rPr sz="1300">
                <a:solidFill>
                  <a:srgbClr val="F0F6FC"/>
                </a:solidFill>
                <a:latin typeface="Calibri"/>
              </a:rPr>
              <a:t>300K rows for tractable training</a:t>
            </a:r>
          </a:p>
          <a:p>
            <a:r>
              <a:t/>
            </a:r>
          </a:p>
          <a:p>
            <a:r>
              <a:rPr sz="1400" b="1">
                <a:solidFill>
                  <a:srgbClr val="EC4899"/>
                </a:solidFill>
                <a:latin typeface="Trebuchet MS"/>
              </a:rPr>
              <a:t>  Features  </a:t>
            </a:r>
            <a:r>
              <a:rPr sz="1300">
                <a:solidFill>
                  <a:srgbClr val="F0F6FC"/>
                </a:solidFill>
                <a:latin typeface="Calibri"/>
              </a:rPr>
              <a:t>TF-IDF (10K terms, unigrams+bigrams) + 10 lyric numeric features
(vocab diversity, repetition ratio, line count, etc.)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Pipeline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Two independent modalities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577840" cy="5577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02920" cy="5577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Trebuchet MS"/>
              </a:rPr>
              <a:t>AUDIO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27632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① Load Spotify SQLite  →  cached parquet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86584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96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② Map micro-genres to 6 canonical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45536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552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③ Undersample to 4,000 samples /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04487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1421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④ Stratified 70 / 15 / 15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⑤ StandardScaler  (fit on train only — no leakage)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22392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⑥ 9 dense audio features per track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051560"/>
            <a:ext cx="5577840" cy="5577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051560"/>
            <a:ext cx="502920" cy="5577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Trebuchet MS"/>
              </a:rPr>
              <a:t>LYRICS MODE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627632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① Stream Genius CSV in 500K-row chunks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386584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496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② Language filter  →  English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145536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2552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③ Clean lyrics  (ftfy + regex, remove [Chorus] tags)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904487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401421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④ Map Genius tags to canonical genres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663440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773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⑤ TF-IDF  (10K features, 1–2 grams, sublinear TF)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5422392"/>
            <a:ext cx="4846320" cy="6583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⑥ 10 lyric numeric features  +  undersample  + 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Models &amp; Hyperparameters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Mode-specific tuning via randomized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560320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02920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4297680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502920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Audio Hyperparameters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188720"/>
            <a:ext cx="4297680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188720"/>
            <a:ext cx="502920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39" y="141732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Lyrics Hyperparameters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256032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Logistic Reg.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468880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9748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lbfgs · L2 · C=1.0 · max_iter=10K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468880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39" y="269748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lbfgs · L2 · C=2.0 · max_iter=50K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2560320" cy="11155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77639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K-Nearest Neighbour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3749039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977639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k=15 · Euclidean distance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749039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39" y="3977639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k=11 · Cosine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199"/>
            <a:ext cx="256032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57799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XGBoost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5029199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257799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depth=4 · lr=0.05 · 500 trees · sub=0.8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5029199"/>
            <a:ext cx="4297680" cy="1115568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39" y="5257799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depth=3 · lr=0.08 · 700 trees · col=0.3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Val vs test gap &lt; 2% on all models — no significant overfitting observed.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Test-set accuracy · all models &amp;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84048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Trebuchet MS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356616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3533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Trebuchet MS"/>
              </a:rPr>
              <a:t>Audio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88720"/>
            <a:ext cx="356616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5331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Trebuchet MS"/>
              </a:rPr>
              <a:t>Lyrics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76272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05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40864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Trebuchet MS"/>
              </a:rPr>
              <a:t>XGBoost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176272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05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340864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Trebuchet MS"/>
              </a:rPr>
              <a:t>54.3%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76272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05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340864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  <a:latin typeface="Trebuchet MS"/>
              </a:rPr>
              <a:t>61.6%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63824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328416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Logistic 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163824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328416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47.2%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163824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328416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61.4%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51376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15968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KNN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151376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31596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47.0%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151376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31596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6FC"/>
                </a:solidFill>
                <a:latin typeface="Calibri"/>
              </a:rPr>
              <a:t>42.9%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38928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03520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Random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5138928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53035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16.7%  (6 classes)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5138928"/>
            <a:ext cx="3566160" cy="86868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53035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  <a:latin typeface="Calibri"/>
              </a:rPr>
              <a:t>20.0%  (5 classes)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★  XGBoost wins both modes.  Lyrics overall stronger, but electronic is absent from Genius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Audio Mode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Test accuracy: 54.3%  ·  Macro F1: 0.535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matrix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5303520"/>
          </a:xfrm>
          <a:prstGeom prst="rect">
            <a:avLst/>
          </a:prstGeom>
        </p:spPr>
      </p:pic>
      <p:pic>
        <p:nvPicPr>
          <p:cNvPr id="8" name="Picture 7" descr="genre_recall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Lyrics Mode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Test accuracy: 61.6%  ·  Macro F1: 0.613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matrix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5303520"/>
          </a:xfrm>
          <a:prstGeom prst="rect">
            <a:avLst/>
          </a:prstGeom>
        </p:spPr>
      </p:pic>
      <p:pic>
        <p:nvPicPr>
          <p:cNvPr id="8" name="Picture 7" descr="genre_recall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Audio vs Lyrics — Per-Genre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XGBoost ·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tm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955279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28016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Trebuchet MS"/>
              </a:rPr>
              <a:t>Lyrics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Hip-hop +10%, R&amp;B +24%, Country +12%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92608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Trebuchet MS"/>
              </a:rPr>
              <a:t>Audio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29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Electronic (N/A in Genius 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572000"/>
            <a:ext cx="3383280" cy="14173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663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Trebuchet MS"/>
              </a:rPr>
              <a:t>Both struggle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0749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Rock &amp; Pop — genre overlap is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292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Trebuchet MS"/>
              </a:rPr>
              <a:t>Best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XGBoost on lyrics — 61.6% accuracy  (vs 20% random on 5 classes)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0292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Trebuchet MS"/>
              </a:rPr>
              <a:t>Audio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Electronic (72.8%) and hip-hop (76.8%) are cleanly separable by sound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02920" cy="1600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Trebuchet MS"/>
              </a:rPr>
              <a:t>Lyrics 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Hip-hop vocabulary dominates: 87.3% recall — the clearest genre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26080"/>
            <a:ext cx="50292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017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Pop is hardest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Both modalities struggle: pop borrows vocabulary and sound from every genre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548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502920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846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Trebuchet MS"/>
              </a:rPr>
              <a:t>Electronic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Genius has too few electronic tracks → audio is the only viable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8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502920" cy="16002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846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949E"/>
                </a:solidFill>
                <a:latin typeface="Trebuchet MS"/>
              </a:rPr>
              <a:t>No overfitting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  <a:latin typeface="Calibri"/>
              </a:rPr>
              <a:t>Val / test gap &lt; 2% across all 6 model-mode combos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Trebuchet MS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9601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02920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161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Trebuchet MS"/>
              </a:rPr>
              <a:t>Fusion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2588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Combine audio + lyrics features — should push accuracy past 65%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9601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0292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13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Trebuchet MS"/>
              </a:rPr>
              <a:t>Transformer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Replace TF-IDF with BERT / RoBERTa for richer lyric representations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11247120" cy="9601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5029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107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Trebuchet MS"/>
              </a:rPr>
              <a:t>Electronic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2044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Supplement Genius with Last.fm or Discogs to recover electronic lyrics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11247120" cy="9601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50292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079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Trebuchet MS"/>
              </a:rPr>
              <a:t>Neural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1772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Fine-tune a spectrogram CNN (MFCCs) as a stronger audio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32120"/>
            <a:ext cx="11247120" cy="9601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50292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052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Trebuchet MS"/>
              </a:rPr>
              <a:t>Expand taxonomy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71500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6FC"/>
                </a:solidFill>
                <a:latin typeface="Calibri"/>
              </a:rPr>
              <a:t>Test on 10-genre taxonomy to find where classification breaks 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